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 marL="228600" indent="-228600">
        <a:buChar char="•"/>
        <a:defRPr sz="2800"/>
      </a:lvl1pPr>
      <a:lvl2pPr marL="685800" indent="-228600">
        <a:buChar char="–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buNone/>
            </a:pPr>
            <a:r>
              <a:rPr lang="ja-JP" sz="4400" b="1"/>
              <a:t>競合サービスの比較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143000"/>
          </a:xfrm>
        </p:spPr>
        <p:txBody>
          <a:bodyPr/>
          <a:lstStyle/>
          <a:p>
            <a:pPr>
              <a:buNone/>
            </a:pPr>
            <a:r>
              <a:rPr lang="ja-JP" sz="2000"/>
              <a:t>2026 年 9 月 · 調査チーム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>
              <a:buNone/>
            </a:pPr>
            <a:r>
              <a:rPr lang="ja-JP" sz="3600" b="1"/>
              <a:t>所見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>
              <a:buChar char="•"/>
            </a:pPr>
            <a:r>
              <a:rPr lang="ja-JP" sz="2400"/>
              <a:t>個人で使うなら C で足りる</a:t>
            </a:r>
          </a:p>
          <a:p>
            <a:pPr>
              <a:buChar char="•"/>
            </a:pPr>
            <a:r>
              <a:rPr lang="ja-JP" sz="2400"/>
              <a:t>5 人以上のチームは B 一択</a:t>
            </a:r>
          </a:p>
          <a:p>
            <a:pPr lvl="1">
              <a:buChar char="•"/>
            </a:pPr>
            <a:r>
              <a:rPr lang="ja-JP" sz="2000"/>
              <a:t>同時接続の上限が決め手</a:t>
            </a:r>
          </a:p>
          <a:p>
            <a:pPr>
              <a:buChar char="•"/>
            </a:pPr>
            <a:r>
              <a:rPr lang="ja-JP" sz="2400"/>
              <a:t>A は年払いの割引で C と差が縮まる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>
              <a:buNone/>
            </a:pPr>
            <a:r>
              <a:rPr lang="ja-JP" sz="3600" b="1"/>
              <a:t>利用者数の推移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825625"/>
            <a:ext cx="6096000" cy="3657600"/>
          </a:xfrm>
          <a:prstGeom prst="rect">
            <a:avLst/>
          </a:prstGeom>
        </p:spPr>
      </p:pic>
      <p:sp>
        <p:nvSpPr>
          <p:cNvPr id="5" name="TextBox 4"/>
          <p:cNvSpPr>
            <a:spLocks noGrp="1"/>
          </p:cNvSpPr>
          <p:nvPr/>
        </p:nvSpPr>
        <p:spPr>
          <a:xfrm>
            <a:off x="7924800" y="1825625"/>
            <a:ext cx="3429000" cy="3657600"/>
          </a:xfrm>
        </p:spPr>
        <p:txBody>
          <a:bodyPr/>
          <a:lstStyle/>
          <a:p>
            <a:pPr>
              <a:buNone/>
            </a:pPr>
            <a:r>
              <a:rPr lang="ja-JP" sz="1800"/>
              <a:t>B は 3 月以降に伸びが鈍化。C は個人利用が中心で安定。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